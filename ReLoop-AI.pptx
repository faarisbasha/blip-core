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2.png"/><Relationship Id="rId15" Type="http://schemas.openxmlformats.org/officeDocument/2006/relationships/image" Target="../media/image-4-3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8157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ReLoop AI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8024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Turning Industrial Waste into Intelligent Value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40459"/>
            <a:ext cx="1898206" cy="11731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45622" y="3040459"/>
            <a:ext cx="312551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845622" y="3453408"/>
            <a:ext cx="312551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Blip Core — Product, AI &amp; Industrial Ops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63" y="3040459"/>
            <a:ext cx="1898305" cy="1173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8098" y="3040459"/>
            <a:ext cx="312551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Brand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368098" y="3453408"/>
            <a:ext cx="312551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Jarvis — Hackathon build, investor-ready prototype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98086" y="4438055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Glassmorphism hero: dark navy gradient backdrop, frosted cards, emerald &amp; cyan accents — designed to create an immediate "wow" for investors and judges.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83704"/>
            <a:ext cx="6223638" cy="953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Current Industrial Waste Management Fails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98086" y="1734641"/>
            <a:ext cx="3045939" cy="1729284"/>
          </a:xfrm>
          <a:prstGeom prst="roundRect">
            <a:avLst>
              <a:gd name="adj" fmla="val 1406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860106" y="1896666"/>
            <a:ext cx="486160" cy="486172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50" y="2030313"/>
            <a:ext cx="218772" cy="2187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0106" y="2514501"/>
            <a:ext cx="2721899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COPILOT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60106" y="2831802"/>
            <a:ext cx="2721899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Manager lacks visibility — real-time quality and quantity are unknown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875685" y="1734641"/>
            <a:ext cx="3046039" cy="1729284"/>
          </a:xfrm>
          <a:prstGeom prst="roundRect">
            <a:avLst>
              <a:gd name="adj" fmla="val 1406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4037705" y="1896666"/>
            <a:ext cx="486160" cy="486172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1350" y="2030313"/>
            <a:ext cx="218772" cy="2187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37705" y="2514501"/>
            <a:ext cx="2721998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 GRIDLOCK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037705" y="2831802"/>
            <a:ext cx="2721998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Unclear whether to reuse, recycle, or sell — financials hidden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8086" y="3595588"/>
            <a:ext cx="3045939" cy="1729284"/>
          </a:xfrm>
          <a:prstGeom prst="roundRect">
            <a:avLst>
              <a:gd name="adj" fmla="val 1406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860106" y="3757612"/>
            <a:ext cx="486160" cy="486172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750" y="3891260"/>
            <a:ext cx="218772" cy="2187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0106" y="4375448"/>
            <a:ext cx="2721899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TRANSPORT RISK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60106" y="4692749"/>
            <a:ext cx="2721899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Logistics costs often outweigh marginal scrap value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3875685" y="3595588"/>
            <a:ext cx="3046039" cy="1729284"/>
          </a:xfrm>
          <a:prstGeom prst="roundRect">
            <a:avLst>
              <a:gd name="adj" fmla="val 1406"/>
            </a:avLst>
          </a:prstGeom>
          <a:solidFill>
            <a:srgbClr val="304755"/>
          </a:solidFill>
          <a:ln/>
        </p:spPr>
      </p:sp>
      <p:sp>
        <p:nvSpPr>
          <p:cNvPr id="20" name="Shape 14"/>
          <p:cNvSpPr/>
          <p:nvPr/>
        </p:nvSpPr>
        <p:spPr>
          <a:xfrm>
            <a:off x="4037705" y="3757612"/>
            <a:ext cx="486160" cy="486172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71350" y="3891260"/>
            <a:ext cx="218772" cy="21877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37705" y="4375448"/>
            <a:ext cx="2721998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SUSTAINABILITY GAP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037705" y="4692749"/>
            <a:ext cx="2721998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CO₂ reductions not quantified — missed compliance / credits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98086" y="5473005"/>
            <a:ext cx="6223638" cy="801191"/>
          </a:xfrm>
          <a:prstGeom prst="roundRect">
            <a:avLst>
              <a:gd name="adj" fmla="val 3034"/>
            </a:avLst>
          </a:prstGeom>
          <a:solidFill>
            <a:srgbClr val="08786D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106" y="5662116"/>
            <a:ext cx="202500" cy="1620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24626" y="5645150"/>
            <a:ext cx="5535077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real challenge is not identifying waste — it's choosing the most practical and profitable pathway.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847"/>
            <a:ext cx="10795524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ReLoop AI Solves It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98086" y="1127026"/>
            <a:ext cx="1140510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ReLoop AI is an AI Decision Engine that turns raw waste data into executable, profitable disposal plans — with economic and CO₂ forecasts.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35" y="1407517"/>
            <a:ext cx="10706527" cy="46170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944" y="5157938"/>
            <a:ext cx="2407712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 &amp; Report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2944" y="4089167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Analysis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3031191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Upload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2944" y="1962419"/>
            <a:ext cx="2432845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Waste Generated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6125865"/>
            <a:ext cx="1140510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Outcome: actionable recommendations like “Sell 500kg cotton to Buyer X tomorrow — est. profit ₹6,000; CO₂ saved 1.2t”.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652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Technology Behind ReLoop AI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33599"/>
            <a:ext cx="4094655" cy="1765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3671" y="2767873"/>
            <a:ext cx="874207" cy="10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 AI Engine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973671" y="2359142"/>
            <a:ext cx="902461" cy="10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Node.js + Express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973671" y="1954541"/>
            <a:ext cx="874207" cy="10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React + Tailwind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73671" y="1545810"/>
            <a:ext cx="874207" cy="10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Factory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71549" y="2000845"/>
            <a:ext cx="6328311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component is containerized for rapid deployment; integrations use secure ETL to import ERP, weighbridge and invoice records.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362226"/>
            <a:ext cx="2611174" cy="150842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2046" y="3499545"/>
            <a:ext cx="183252" cy="1832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9829" y="3973016"/>
            <a:ext cx="226768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React + Tailwind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9829" y="4267696"/>
            <a:ext cx="226768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Fast, accessible UI for managers and operators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6136" y="3362226"/>
            <a:ext cx="2611273" cy="1508423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0097" y="3499545"/>
            <a:ext cx="183252" cy="18325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597880" y="3973016"/>
            <a:ext cx="226778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3597880" y="4267696"/>
            <a:ext cx="2267786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API layer, secure integrations with ERPs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54286" y="3362226"/>
            <a:ext cx="2611174" cy="1508423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68247" y="3499545"/>
            <a:ext cx="183252" cy="183257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26029" y="3973016"/>
            <a:ext cx="226768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 AI Engine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6326029" y="4267696"/>
            <a:ext cx="226768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YOLOv8 for detection, EasyOCR for invoices, XGBoost for decisions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82336" y="3362226"/>
            <a:ext cx="2611273" cy="1508423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96297" y="3499545"/>
            <a:ext cx="183252" cy="183257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054080" y="3973016"/>
            <a:ext cx="226778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4" name="Text 13"/>
          <p:cNvSpPr/>
          <p:nvPr/>
        </p:nvSpPr>
        <p:spPr>
          <a:xfrm>
            <a:off x="9054080" y="4267696"/>
            <a:ext cx="2267786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Time-series and relational storage for traceability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086" y="4987528"/>
            <a:ext cx="10795524" cy="129282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04221" y="5124847"/>
            <a:ext cx="183252" cy="183257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69829" y="5598319"/>
            <a:ext cx="1045203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Reports</a:t>
            </a:r>
            <a:endParaRPr lang="en-US" sz="1400" dirty="0"/>
          </a:p>
        </p:txBody>
      </p:sp>
      <p:sp>
        <p:nvSpPr>
          <p:cNvPr id="28" name="Text 15"/>
          <p:cNvSpPr/>
          <p:nvPr/>
        </p:nvSpPr>
        <p:spPr>
          <a:xfrm>
            <a:off x="869829" y="5892998"/>
            <a:ext cx="10452037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PDF sustainability reports and executive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5469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Makes ReLoop AI Different?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98086" y="2065536"/>
            <a:ext cx="322552" cy="32256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758112" y="2100263"/>
            <a:ext cx="202401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23624" y="2114748"/>
            <a:ext cx="212154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Existing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624" y="2428577"/>
            <a:ext cx="2121541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Classify waste</a:t>
            </a:r>
            <a:endParaRPr lang="en-US" sz="1100" dirty="0"/>
          </a:p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Suggest recycling</a:t>
            </a:r>
            <a:endParaRPr lang="en-US" sz="1100" dirty="0"/>
          </a:p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Manual buyer selection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3948" y="2065536"/>
            <a:ext cx="322552" cy="32256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3433974" y="2100263"/>
            <a:ext cx="202401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799487" y="2114748"/>
            <a:ext cx="212154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ReLoop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9487" y="2428577"/>
            <a:ext cx="2121541" cy="14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waste quality</a:t>
            </a:r>
            <a:endParaRPr lang="en-US" sz="1100" dirty="0"/>
          </a:p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market demand &amp; transport</a:t>
            </a:r>
            <a:endParaRPr lang="en-US" sz="1100" dirty="0"/>
          </a:p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 profitability and CO₂ impact</a:t>
            </a:r>
            <a:endParaRPr lang="en-US" sz="1100" dirty="0"/>
          </a:p>
          <a:p>
            <a:pPr algn="l" marL="223520" indent="-22352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 executable buyer + logistics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016" y="1267520"/>
            <a:ext cx="5222943" cy="29596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77016" y="4343102"/>
            <a:ext cx="5222943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EcoLink AI — coordinated logistics across Factory A (300kg), Factory B (250kg), Factory C (200kg). Shared truck reduces transport cost, increases margin, lowers CO₂.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8086" y="4945757"/>
            <a:ext cx="10795524" cy="756444"/>
          </a:xfrm>
          <a:prstGeom prst="roundRect">
            <a:avLst>
              <a:gd name="adj" fmla="val 2843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841453" y="5089128"/>
            <a:ext cx="10508789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453" y="5361781"/>
            <a:ext cx="10508789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transport cost · Higher profit · Reduced emissions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8086" y="5818088"/>
            <a:ext cx="10795524" cy="464344"/>
          </a:xfrm>
          <a:prstGeom prst="roundRect">
            <a:avLst>
              <a:gd name="adj" fmla="val 4632"/>
            </a:avLst>
          </a:prstGeom>
          <a:solidFill>
            <a:srgbClr val="08786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53" y="5964734"/>
            <a:ext cx="179185" cy="14337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64005" y="5956895"/>
            <a:ext cx="10795821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Signature innovation: EcoLink AI — demand-aware pooling and route-aware profitability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Practical Implementation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941586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extra hardware. Imports existing ERP, Excel, weighbridge slips and scrap invoices to produce immediate recommendations.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4846737"/>
            <a:ext cx="755929" cy="944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6322" y="4846737"/>
            <a:ext cx="178867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516322" y="5043190"/>
            <a:ext cx="178867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ERP logs · Excel sheets · Weighbridge slips · Invoices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301" y="4846737"/>
            <a:ext cx="755929" cy="944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85537" y="4846737"/>
            <a:ext cx="178867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85537" y="5043190"/>
            <a:ext cx="178867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OCR + Vision + Market sync — zero hardware needed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223836" y="1173361"/>
            <a:ext cx="5276123" cy="515541"/>
          </a:xfrm>
          <a:prstGeom prst="roundRect">
            <a:avLst>
              <a:gd name="adj" fmla="val 2902"/>
            </a:avLst>
          </a:prstGeom>
          <a:solidFill>
            <a:srgbClr val="304755"/>
          </a:solidFill>
          <a:ln/>
        </p:spPr>
      </p:sp>
      <p:sp>
        <p:nvSpPr>
          <p:cNvPr id="11" name="Text 7"/>
          <p:cNvSpPr/>
          <p:nvPr/>
        </p:nvSpPr>
        <p:spPr>
          <a:xfrm>
            <a:off x="6323549" y="1273076"/>
            <a:ext cx="507669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Demo Scenario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323549" y="1469529"/>
            <a:ext cx="507669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Input: Cotton waste · 500kg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223836" y="1738709"/>
            <a:ext cx="5276123" cy="635198"/>
          </a:xfrm>
          <a:prstGeom prst="roundRect">
            <a:avLst>
              <a:gd name="adj" fmla="val 2355"/>
            </a:avLst>
          </a:prstGeom>
          <a:solidFill>
            <a:srgbClr val="304755"/>
          </a:solidFill>
          <a:ln/>
        </p:spPr>
      </p:sp>
      <p:sp>
        <p:nvSpPr>
          <p:cNvPr id="14" name="Text 10"/>
          <p:cNvSpPr/>
          <p:nvPr/>
        </p:nvSpPr>
        <p:spPr>
          <a:xfrm>
            <a:off x="6323549" y="1838424"/>
            <a:ext cx="507669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Output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323549" y="2034877"/>
            <a:ext cx="507669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Best Buyer: GreenTex Recycling · Revenue: ₹8,500 · Transport: ₹1,800 · Processing: ₹700 · Profit: ₹6,000 · CO₂ Saved: 1.2 T</a:t>
            </a:r>
            <a:endParaRPr lang="en-US" sz="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36" y="2429966"/>
            <a:ext cx="5276123" cy="703500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98086" y="9577090"/>
            <a:ext cx="10795524" cy="264120"/>
          </a:xfrm>
          <a:prstGeom prst="roundRect">
            <a:avLst>
              <a:gd name="adj" fmla="val 5664"/>
            </a:avLst>
          </a:prstGeom>
          <a:solidFill>
            <a:srgbClr val="183A1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98" y="9651802"/>
            <a:ext cx="124616" cy="997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2126" y="9651802"/>
            <a:ext cx="109813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Ready for pilot — 2-week integration timeline with typical ERP connectors and CSV ingestion.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Turning Waste into Intelligent Value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67935" y="1589782"/>
            <a:ext cx="122671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₹6K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299" y="966490"/>
            <a:ext cx="1496082" cy="149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537321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/ Batch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98086" y="2713831"/>
            <a:ext cx="53666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Incremental revenue unlocked per typical scrap batch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196851" y="1589782"/>
            <a:ext cx="122671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40%</a:t>
            </a:r>
            <a:endParaRPr lang="en-US" sz="1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215" y="966490"/>
            <a:ext cx="1496082" cy="149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7001" y="2537321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Landfill Reduction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127001" y="2713831"/>
            <a:ext cx="53666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Estimated avoided landfill share in pilots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2767935" y="3581400"/>
            <a:ext cx="122671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1.2t</a:t>
            </a:r>
            <a:endParaRPr lang="en-US" sz="1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299" y="2958108"/>
            <a:ext cx="1496082" cy="1496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8086" y="4528939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CO₂ Saved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98086" y="4705449"/>
            <a:ext cx="53666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 optimized sale (example)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8196851" y="3581400"/>
            <a:ext cx="122671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</a:t>
            </a:r>
            <a:endParaRPr lang="en-US" sz="1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215" y="2958108"/>
            <a:ext cx="1496082" cy="14961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001" y="4528939"/>
            <a:ext cx="53666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Circular Score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127001" y="4705449"/>
            <a:ext cx="53666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Operational circularity index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98086" y="4899819"/>
            <a:ext cx="1079552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98086" y="5121176"/>
            <a:ext cx="10795524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Recycling Marketplace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Carbon Credit Integration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 ERP &amp; Logistics Provider Integrations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Predictive Waste Forecasting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698086" y="5707955"/>
            <a:ext cx="10795524" cy="29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Closing line: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ReLoop AI transforms industrial waste into intelligent business decisions by combining AI, economics, and sustainability.</a:t>
            </a:r>
            <a:endParaRPr lang="en-US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QR: [Prototype Access — placeholder]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98086" y="6059388"/>
            <a:ext cx="10795524" cy="383778"/>
          </a:xfrm>
          <a:prstGeom prst="roundRect">
            <a:avLst>
              <a:gd name="adj" fmla="val 3898"/>
            </a:avLst>
          </a:prstGeom>
          <a:solidFill>
            <a:srgbClr val="08786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98" y="6134100"/>
            <a:ext cx="124616" cy="997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2126" y="6134100"/>
            <a:ext cx="1037177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Export-ready: high-resolution PDF + fully clickable multi-page prototype (Landing, Dashboard, Waste Analysis, Market Intelligence, EcoLink AI, Reports, Settings) — prototype includes realistic data, animated transitions, and glassmorphism UI components.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2026-09-18T15:46:02Z</dcterms:created>
  <dcterms:modified xsi:type="dcterms:W3CDTF">2026-09-18T15:46:02Z</dcterms:modified>
</cp:coreProperties>
</file>